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4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98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4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70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38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07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64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30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9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8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96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9514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6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51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04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21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0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E607144-CE58-4A60-A431-10A32AAC977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0FC1B-CAA3-4FD5-AA77-C3E38D267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32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EEE-C5A0-4B1B-B163-892F3FB86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618" y="1219200"/>
            <a:ext cx="11592233" cy="2555291"/>
          </a:xfrm>
        </p:spPr>
        <p:txBody>
          <a:bodyPr/>
          <a:lstStyle/>
          <a:p>
            <a:pPr algn="ctr"/>
            <a:r>
              <a:rPr lang="en-US" dirty="0"/>
              <a:t>Python Task - Airbnb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7B835-1BDB-01A8-0268-328AC7430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968" y="5151006"/>
            <a:ext cx="8161645" cy="610696"/>
          </a:xfrm>
        </p:spPr>
        <p:txBody>
          <a:bodyPr/>
          <a:lstStyle/>
          <a:p>
            <a:r>
              <a:rPr lang="en-US" dirty="0"/>
              <a:t>KONSTANTINOS PETRIDIS</a:t>
            </a:r>
          </a:p>
        </p:txBody>
      </p:sp>
    </p:spTree>
    <p:extLst>
      <p:ext uri="{BB962C8B-B14F-4D97-AF65-F5344CB8AC3E}">
        <p14:creationId xmlns:p14="http://schemas.microsoft.com/office/powerpoint/2010/main" val="1532936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DB2F-2ADE-833B-03BC-F8727E6A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52718"/>
            <a:ext cx="10050834" cy="943463"/>
          </a:xfrm>
        </p:spPr>
        <p:txBody>
          <a:bodyPr/>
          <a:lstStyle/>
          <a:p>
            <a:r>
              <a:rPr lang="en-US" dirty="0"/>
              <a:t>PART A</a:t>
            </a:r>
            <a:r>
              <a:rPr lang="el-GR" dirty="0"/>
              <a:t> – </a:t>
            </a:r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8FD48-F40A-CEBC-6328-DC77E7FC7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0803"/>
            <a:ext cx="11759381" cy="4927983"/>
          </a:xfrm>
        </p:spPr>
        <p:txBody>
          <a:bodyPr>
            <a:normAutofit/>
          </a:bodyPr>
          <a:lstStyle/>
          <a:p>
            <a:r>
              <a:rPr lang="en-US" b="1" u="sng" dirty="0" err="1"/>
              <a:t>Overiew</a:t>
            </a:r>
            <a:r>
              <a:rPr lang="en-US" b="1" dirty="0"/>
              <a:t>: </a:t>
            </a:r>
            <a:r>
              <a:rPr lang="en-US" dirty="0"/>
              <a:t>Loaded Listings, Calendar, and Reviews datasets. Conducted initial shape validation (.shape) and missing value audits.</a:t>
            </a:r>
          </a:p>
          <a:p>
            <a:endParaRPr lang="en-US" b="1" u="sng" dirty="0"/>
          </a:p>
          <a:p>
            <a:r>
              <a:rPr lang="en-US" b="1" u="sng" dirty="0"/>
              <a:t>Formatting</a:t>
            </a:r>
            <a:r>
              <a:rPr lang="en-US" b="1" dirty="0"/>
              <a:t>: </a:t>
            </a:r>
            <a:r>
              <a:rPr lang="en-US" dirty="0"/>
              <a:t>formatting symbols ($, ,, %) from price and rate columns, converting text fields into float64 to prevent corrupted financial metrics.</a:t>
            </a:r>
            <a:endParaRPr lang="el-GR" dirty="0"/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Imputation Strategy: </a:t>
            </a:r>
            <a:br>
              <a:rPr lang="en-US" dirty="0"/>
            </a:br>
            <a:r>
              <a:rPr lang="en-US" dirty="0"/>
              <a:t>Applied placeholder values ("Unknown") for text columns and utilized Mode Imputation (most frequent value) for operational metrics like </a:t>
            </a:r>
            <a:r>
              <a:rPr lang="en-US" dirty="0" err="1"/>
              <a:t>host_response_time</a:t>
            </a:r>
            <a:r>
              <a:rPr lang="en-US" dirty="0"/>
              <a:t>.</a:t>
            </a:r>
            <a:endParaRPr lang="el-GR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u="sng" dirty="0"/>
              <a:t>Outlier</a:t>
            </a:r>
            <a:r>
              <a:rPr lang="en-US" b="1" dirty="0"/>
              <a:t> </a:t>
            </a:r>
            <a:r>
              <a:rPr lang="en-US" b="1" u="sng" dirty="0"/>
              <a:t>Mitigation</a:t>
            </a:r>
            <a:r>
              <a:rPr lang="en-US" b="1" dirty="0"/>
              <a:t>:</a:t>
            </a:r>
            <a:r>
              <a:rPr lang="en-US" dirty="0"/>
              <a:t> Capped minimum and maximum booking nights at 365 using .clip() to neutralize unrealistic placeholder inputs (e.g., 999 nights) set by hosts.</a:t>
            </a:r>
          </a:p>
        </p:txBody>
      </p:sp>
    </p:spTree>
    <p:extLst>
      <p:ext uri="{BB962C8B-B14F-4D97-AF65-F5344CB8AC3E}">
        <p14:creationId xmlns:p14="http://schemas.microsoft.com/office/powerpoint/2010/main" val="3994332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5914-E671-56BC-58AE-3BFA0841F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52718"/>
            <a:ext cx="10050834" cy="1405579"/>
          </a:xfrm>
        </p:spPr>
        <p:txBody>
          <a:bodyPr/>
          <a:lstStyle/>
          <a:p>
            <a:pPr algn="ctr"/>
            <a:r>
              <a:rPr lang="en-US" dirty="0"/>
              <a:t>QUESTION  - 1</a:t>
            </a:r>
            <a:br>
              <a:rPr lang="en-US" dirty="0"/>
            </a:br>
            <a:r>
              <a:rPr lang="en-US" dirty="0"/>
              <a:t>Most Profitable Areas in Greece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F2427-A824-24EE-9345-38EFAF6FC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1858297"/>
            <a:ext cx="10343535" cy="4436372"/>
          </a:xfrm>
        </p:spPr>
        <p:txBody>
          <a:bodyPr>
            <a:normAutofit/>
          </a:bodyPr>
          <a:lstStyle/>
          <a:p>
            <a:r>
              <a:rPr lang="en-US" b="1" u="sng" dirty="0"/>
              <a:t>Methodology</a:t>
            </a:r>
            <a:r>
              <a:rPr lang="en-US" b="1" dirty="0"/>
              <a:t>: </a:t>
            </a:r>
            <a:r>
              <a:rPr lang="en-US" dirty="0"/>
              <a:t>Isolated actual bookings (available == 'f') from the calendar, calculated total revenue per listing, and aggregated the mean earnings by geographical sector (</a:t>
            </a:r>
            <a:r>
              <a:rPr lang="en-US" dirty="0" err="1"/>
              <a:t>neighbourhood_cleansed</a:t>
            </a:r>
            <a:r>
              <a:rPr lang="en-US" dirty="0"/>
              <a:t>).</a:t>
            </a:r>
            <a:endParaRPr lang="en-US" b="1" u="sng" dirty="0"/>
          </a:p>
          <a:p>
            <a:r>
              <a:rPr lang="en-US" b="1" u="sng" dirty="0"/>
              <a:t>Key Finding</a:t>
            </a:r>
            <a:r>
              <a:rPr lang="en-US" b="1" dirty="0"/>
              <a:t>:</a:t>
            </a:r>
            <a:r>
              <a:rPr lang="en-US" dirty="0"/>
              <a:t> Identified and ranked the Top 10 premium neighborhoods yielding the highest average revenue.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1E2777-5379-2E62-5CD1-A2723254E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714" y="3552904"/>
            <a:ext cx="2868447" cy="330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69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C7880-75D1-32C1-F43E-17100FB1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35" y="285570"/>
            <a:ext cx="10129492" cy="1400530"/>
          </a:xfrm>
        </p:spPr>
        <p:txBody>
          <a:bodyPr/>
          <a:lstStyle/>
          <a:p>
            <a:pPr algn="ctr"/>
            <a:r>
              <a:rPr lang="en-US" dirty="0"/>
              <a:t>QUESTION  - 2 </a:t>
            </a:r>
            <a:br>
              <a:rPr lang="en-US" dirty="0"/>
            </a:br>
            <a:r>
              <a:rPr lang="en-US" dirty="0"/>
              <a:t>Top Hosts by Review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3D0FE-63C5-4A95-6916-EAEE16A15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35" y="1686100"/>
            <a:ext cx="11926529" cy="4852352"/>
          </a:xfrm>
        </p:spPr>
        <p:txBody>
          <a:bodyPr>
            <a:normAutofit/>
          </a:bodyPr>
          <a:lstStyle/>
          <a:p>
            <a:r>
              <a:rPr lang="en-US" b="1" u="sng" dirty="0"/>
              <a:t>Methodology:</a:t>
            </a:r>
            <a:r>
              <a:rPr lang="en-US" b="1" dirty="0"/>
              <a:t> </a:t>
            </a:r>
            <a:r>
              <a:rPr lang="en-US" dirty="0"/>
              <a:t>Aggregated total review counts at the </a:t>
            </a:r>
            <a:r>
              <a:rPr lang="en-US" b="1" dirty="0" err="1"/>
              <a:t>listing_id</a:t>
            </a:r>
            <a:r>
              <a:rPr lang="en-US" b="1" dirty="0"/>
              <a:t> </a:t>
            </a:r>
            <a:r>
              <a:rPr lang="en-US" dirty="0"/>
              <a:t>level in the Reviews dataset, then seamlessly linked them to the Listings table to compute cumulative engagement per individual </a:t>
            </a:r>
            <a:r>
              <a:rPr lang="en-US" b="1" dirty="0" err="1"/>
              <a:t>host_id</a:t>
            </a:r>
            <a:r>
              <a:rPr lang="en-US" b="1" u="sng" dirty="0"/>
              <a:t>.</a:t>
            </a:r>
          </a:p>
          <a:p>
            <a:r>
              <a:rPr lang="en-US" b="1" u="sng" dirty="0"/>
              <a:t>Key Finding:</a:t>
            </a:r>
            <a:r>
              <a:rPr lang="en-US" b="1" dirty="0"/>
              <a:t> </a:t>
            </a:r>
            <a:r>
              <a:rPr lang="en-US" dirty="0"/>
              <a:t>Uncovered the Top 10 most active hosts based on overall customer review counts.</a:t>
            </a:r>
            <a:endParaRPr lang="en-US" b="1" u="sng" dirty="0"/>
          </a:p>
          <a:p>
            <a:pPr marL="0" indent="0">
              <a:buFont typeface="Wingdings 3" charset="2"/>
              <a:buNone/>
            </a:pPr>
            <a:endParaRPr lang="en-US" b="1" u="sng" dirty="0"/>
          </a:p>
          <a:p>
            <a:pPr marL="0" indent="0">
              <a:buFont typeface="Wingdings 3" charset="2"/>
              <a:buNone/>
            </a:pPr>
            <a:endParaRPr lang="en-US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C798B-FBCD-9043-105D-E741A63E3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39" y="3429000"/>
            <a:ext cx="204281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59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7B87-36C9-E0D6-38E0-6FF45C731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110262"/>
            <a:ext cx="10050835" cy="1012288"/>
          </a:xfrm>
        </p:spPr>
        <p:txBody>
          <a:bodyPr/>
          <a:lstStyle/>
          <a:p>
            <a:pPr algn="ctr"/>
            <a:r>
              <a:rPr lang="en-US" dirty="0"/>
              <a:t>QUESTION  - 3 </a:t>
            </a:r>
            <a:br>
              <a:rPr lang="en-US" dirty="0"/>
            </a:br>
            <a:r>
              <a:rPr lang="en-US" dirty="0"/>
              <a:t>Pricing Strategy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A61D3-4E8F-7F91-FE6B-0F2642213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1122550"/>
            <a:ext cx="10864645" cy="50951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l-GR" b="1" u="sng" dirty="0"/>
          </a:p>
          <a:p>
            <a:r>
              <a:rPr lang="en-US" b="1" u="sng" dirty="0"/>
              <a:t>Methodology</a:t>
            </a:r>
            <a:r>
              <a:rPr lang="en-US" dirty="0"/>
              <a:t>: Developed a specialized performance metric:</a:t>
            </a:r>
          </a:p>
          <a:p>
            <a:pPr marL="0" indent="0">
              <a:buNone/>
            </a:pPr>
            <a:r>
              <a:rPr lang="en-US" b="1" dirty="0"/>
              <a:t>						Revenue per Day Available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Utilized </a:t>
            </a:r>
            <a:r>
              <a:rPr lang="en-US" dirty="0" err="1"/>
              <a:t>np.where</a:t>
            </a:r>
            <a:r>
              <a:rPr lang="en-US" dirty="0"/>
              <a:t>() to handle structural division-by-zero anomalies for properties with zero recorded availability</a:t>
            </a:r>
          </a:p>
          <a:p>
            <a:r>
              <a:rPr lang="en-US" b="1" u="sng" dirty="0"/>
              <a:t>Key </a:t>
            </a:r>
            <a:r>
              <a:rPr lang="en-US" b="1" u="sng" dirty="0" err="1"/>
              <a:t>Finding:</a:t>
            </a:r>
            <a:r>
              <a:rPr lang="en-US" dirty="0" err="1"/>
              <a:t>Top</a:t>
            </a:r>
            <a:r>
              <a:rPr lang="en-US" dirty="0"/>
              <a:t> 10 listings with the highest earnings for each day they are active</a:t>
            </a:r>
            <a:endParaRPr lang="en-US" b="1" u="sng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25E7C9-FF71-69EE-F04D-A32B07E62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175" y="3807157"/>
            <a:ext cx="3916129" cy="294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13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174</TotalTime>
  <Words>300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Century Gothic</vt:lpstr>
      <vt:lpstr>Wingdings</vt:lpstr>
      <vt:lpstr>Wingdings 3</vt:lpstr>
      <vt:lpstr>Ion</vt:lpstr>
      <vt:lpstr>Python Task - Airbnb</vt:lpstr>
      <vt:lpstr>PART A – Data Cleaning</vt:lpstr>
      <vt:lpstr>QUESTION  - 1 Most Profitable Areas in Greece</vt:lpstr>
      <vt:lpstr>QUESTION  - 2  Top Hosts by Review Volume</vt:lpstr>
      <vt:lpstr>QUESTION  - 3  Pricing Strategy Efficiency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Konstantinos Petridis</dc:creator>
  <cp:lastModifiedBy>Konstantinos Petridis</cp:lastModifiedBy>
  <cp:revision>8</cp:revision>
  <dcterms:created xsi:type="dcterms:W3CDTF">2026-01-11T12:50:21Z</dcterms:created>
  <dcterms:modified xsi:type="dcterms:W3CDTF">2026-08-07T08:14:39Z</dcterms:modified>
</cp:coreProperties>
</file>